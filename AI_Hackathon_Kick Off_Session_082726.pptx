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72" r:id="rId6"/>
    <p:sldId id="263" r:id="rId7"/>
    <p:sldId id="257" r:id="rId8"/>
    <p:sldId id="259" r:id="rId9"/>
    <p:sldId id="260" r:id="rId10"/>
    <p:sldId id="261" r:id="rId11"/>
    <p:sldId id="276" r:id="rId12"/>
    <p:sldId id="275" r:id="rId13"/>
    <p:sldId id="274" r:id="rId14"/>
    <p:sldId id="270" r:id="rId15"/>
    <p:sldId id="277" r:id="rId16"/>
    <p:sldId id="264" r:id="rId17"/>
    <p:sldId id="265" r:id="rId18"/>
    <p:sldId id="273" r:id="rId19"/>
    <p:sldId id="278" r:id="rId20"/>
    <p:sldId id="26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AEA"/>
    <a:srgbClr val="C5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D4F71-5689-46AE-992F-D2A5354C09A4}" v="1" dt="2026-08-27T13:09:34.028"/>
    <p1510:client id="{892A57B3-975F-4937-88D6-900687734894}" v="512" dt="2026-08-27T10:51:56.349"/>
    <p1510:client id="{F4062B50-FE11-40CC-B8DB-DA870B482763}" v="1" dt="2026-08-27T10:33:51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450" autoAdjust="0"/>
  </p:normalViewPr>
  <p:slideViewPr>
    <p:cSldViewPr snapToGrid="0">
      <p:cViewPr varScale="1">
        <p:scale>
          <a:sx n="83" d="100"/>
          <a:sy n="83" d="100"/>
        </p:scale>
        <p:origin x="15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inne Wiedel" userId="cd944a61-063c-4fd2-b212-f3a8bc0978e9" providerId="ADAL" clId="{8483AC32-DAF7-4451-AFBB-09703AF58243}"/>
    <pc:docChg chg="custSel addSld modSld">
      <pc:chgData name="Corinne Wiedel" userId="cd944a61-063c-4fd2-b212-f3a8bc0978e9" providerId="ADAL" clId="{8483AC32-DAF7-4451-AFBB-09703AF58243}" dt="2026-08-27T13:14:26.693" v="279" actId="14100"/>
      <pc:docMkLst>
        <pc:docMk/>
      </pc:docMkLst>
      <pc:sldChg chg="modNotesTx">
        <pc:chgData name="Corinne Wiedel" userId="cd944a61-063c-4fd2-b212-f3a8bc0978e9" providerId="ADAL" clId="{8483AC32-DAF7-4451-AFBB-09703AF58243}" dt="2026-08-27T12:52:08.212" v="67" actId="6549"/>
        <pc:sldMkLst>
          <pc:docMk/>
          <pc:sldMk cId="0" sldId="257"/>
        </pc:sldMkLst>
      </pc:sldChg>
      <pc:sldChg chg="modSp mod">
        <pc:chgData name="Corinne Wiedel" userId="cd944a61-063c-4fd2-b212-f3a8bc0978e9" providerId="ADAL" clId="{8483AC32-DAF7-4451-AFBB-09703AF58243}" dt="2026-08-27T12:53:21.201" v="76" actId="20577"/>
        <pc:sldMkLst>
          <pc:docMk/>
          <pc:sldMk cId="0" sldId="263"/>
        </pc:sldMkLst>
        <pc:spChg chg="mod">
          <ac:chgData name="Corinne Wiedel" userId="cd944a61-063c-4fd2-b212-f3a8bc0978e9" providerId="ADAL" clId="{8483AC32-DAF7-4451-AFBB-09703AF58243}" dt="2026-08-27T12:53:21.201" v="76" actId="20577"/>
          <ac:spMkLst>
            <pc:docMk/>
            <pc:sldMk cId="0" sldId="263"/>
            <ac:spMk id="43" creationId="{703EB75C-EB20-D05E-4553-6721694562AB}"/>
          </ac:spMkLst>
        </pc:spChg>
      </pc:sldChg>
      <pc:sldChg chg="modSp add mod">
        <pc:chgData name="Corinne Wiedel" userId="cd944a61-063c-4fd2-b212-f3a8bc0978e9" providerId="ADAL" clId="{8483AC32-DAF7-4451-AFBB-09703AF58243}" dt="2026-08-27T12:44:09.515" v="66" actId="20577"/>
        <pc:sldMkLst>
          <pc:docMk/>
          <pc:sldMk cId="0" sldId="277"/>
        </pc:sldMkLst>
        <pc:spChg chg="mod">
          <ac:chgData name="Corinne Wiedel" userId="cd944a61-063c-4fd2-b212-f3a8bc0978e9" providerId="ADAL" clId="{8483AC32-DAF7-4451-AFBB-09703AF58243}" dt="2026-08-27T12:43:43.493" v="13" actId="20577"/>
          <ac:spMkLst>
            <pc:docMk/>
            <pc:sldMk cId="0" sldId="277"/>
            <ac:spMk id="8" creationId="{00000000-0000-0000-0000-000000000000}"/>
          </ac:spMkLst>
        </pc:spChg>
        <pc:spChg chg="mod">
          <ac:chgData name="Corinne Wiedel" userId="cd944a61-063c-4fd2-b212-f3a8bc0978e9" providerId="ADAL" clId="{8483AC32-DAF7-4451-AFBB-09703AF58243}" dt="2026-08-27T12:44:09.515" v="66" actId="20577"/>
          <ac:spMkLst>
            <pc:docMk/>
            <pc:sldMk cId="0" sldId="277"/>
            <ac:spMk id="17" creationId="{00000000-0000-0000-0000-000000000000}"/>
          </ac:spMkLst>
        </pc:spChg>
      </pc:sldChg>
      <pc:sldChg chg="addSp delSp modSp add mod setBg">
        <pc:chgData name="Corinne Wiedel" userId="cd944a61-063c-4fd2-b212-f3a8bc0978e9" providerId="ADAL" clId="{8483AC32-DAF7-4451-AFBB-09703AF58243}" dt="2026-08-27T13:14:26.693" v="279" actId="14100"/>
        <pc:sldMkLst>
          <pc:docMk/>
          <pc:sldMk cId="1274078845" sldId="278"/>
        </pc:sldMkLst>
        <pc:spChg chg="mod">
          <ac:chgData name="Corinne Wiedel" userId="cd944a61-063c-4fd2-b212-f3a8bc0978e9" providerId="ADAL" clId="{8483AC32-DAF7-4451-AFBB-09703AF58243}" dt="2026-08-27T13:13:09.032" v="155" actId="20577"/>
          <ac:spMkLst>
            <pc:docMk/>
            <pc:sldMk cId="1274078845" sldId="278"/>
            <ac:spMk id="4" creationId="{4C075C05-7D0D-D849-0921-88E72C498AE4}"/>
          </ac:spMkLst>
        </pc:spChg>
        <pc:spChg chg="add mod">
          <ac:chgData name="Corinne Wiedel" userId="cd944a61-063c-4fd2-b212-f3a8bc0978e9" providerId="ADAL" clId="{8483AC32-DAF7-4451-AFBB-09703AF58243}" dt="2026-08-27T13:13:39.605" v="157" actId="1076"/>
          <ac:spMkLst>
            <pc:docMk/>
            <pc:sldMk cId="1274078845" sldId="278"/>
            <ac:spMk id="7" creationId="{22BF9456-993F-9274-9A5E-675A693F9E7B}"/>
          </ac:spMkLst>
        </pc:spChg>
        <pc:spChg chg="add mod">
          <ac:chgData name="Corinne Wiedel" userId="cd944a61-063c-4fd2-b212-f3a8bc0978e9" providerId="ADAL" clId="{8483AC32-DAF7-4451-AFBB-09703AF58243}" dt="2026-08-27T13:14:26.693" v="279" actId="14100"/>
          <ac:spMkLst>
            <pc:docMk/>
            <pc:sldMk cId="1274078845" sldId="278"/>
            <ac:spMk id="9" creationId="{F422848B-19A3-1136-5FAF-B0CF474F1DD0}"/>
          </ac:spMkLst>
        </pc:spChg>
        <pc:spChg chg="del">
          <ac:chgData name="Corinne Wiedel" userId="cd944a61-063c-4fd2-b212-f3a8bc0978e9" providerId="ADAL" clId="{8483AC32-DAF7-4451-AFBB-09703AF58243}" dt="2026-08-27T13:12:04.762" v="80" actId="478"/>
          <ac:spMkLst>
            <pc:docMk/>
            <pc:sldMk cId="1274078845" sldId="278"/>
            <ac:spMk id="10" creationId="{CFC2BDF2-BF3F-231C-476E-212A3D0D7889}"/>
          </ac:spMkLst>
        </pc:spChg>
        <pc:graphicFrameChg chg="del modGraphic">
          <ac:chgData name="Corinne Wiedel" userId="cd944a61-063c-4fd2-b212-f3a8bc0978e9" providerId="ADAL" clId="{8483AC32-DAF7-4451-AFBB-09703AF58243}" dt="2026-08-27T13:12:02.421" v="79" actId="478"/>
          <ac:graphicFrameMkLst>
            <pc:docMk/>
            <pc:sldMk cId="1274078845" sldId="278"/>
            <ac:graphicFrameMk id="60" creationId="{7280812D-0820-5F4E-0504-D30BFAF544F4}"/>
          </ac:graphicFrameMkLst>
        </pc:graphicFrameChg>
        <pc:picChg chg="add mod">
          <ac:chgData name="Corinne Wiedel" userId="cd944a61-063c-4fd2-b212-f3a8bc0978e9" providerId="ADAL" clId="{8483AC32-DAF7-4451-AFBB-09703AF58243}" dt="2026-08-27T13:12:41.190" v="83" actId="1076"/>
          <ac:picMkLst>
            <pc:docMk/>
            <pc:sldMk cId="1274078845" sldId="278"/>
            <ac:picMk id="5" creationId="{DCF901F8-506A-6567-2265-554B6FD459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645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68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4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3E4B66"/>
          </a:solidFill>
          <a:ln w="28575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-457200"/>
            <a:ext cx="2194560" cy="2194560"/>
          </a:xfrm>
          <a:prstGeom prst="ellipse">
            <a:avLst/>
          </a:prstGeom>
          <a:solidFill>
            <a:srgbClr val="3E4B66"/>
          </a:solidFill>
          <a:ln w="19050">
            <a:solidFill>
              <a:srgbClr val="5765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BGC IT   ·   AI HACKATHON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Tracking Build Challenge</a:t>
            </a:r>
            <a:endParaRPr lang="en-US" sz="5000"/>
          </a:p>
        </p:txBody>
      </p:sp>
      <p:sp>
        <p:nvSpPr>
          <p:cNvPr id="6" name="Text 4"/>
          <p:cNvSpPr/>
          <p:nvPr/>
        </p:nvSpPr>
        <p:spPr>
          <a:xfrm>
            <a:off x="74980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EA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749808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E3E8F0"/>
                </a:solidFill>
                <a:latin typeface="Cambria"/>
                <a:ea typeface="Cambria"/>
                <a:cs typeface="Cambria" pitchFamily="34" charset="-120"/>
              </a:rPr>
              <a:t>Today. A real BGC problem. Let’s build.</a:t>
            </a:r>
            <a:endParaRPr lang="en-US" sz="1700">
              <a:latin typeface="Cambria"/>
              <a:ea typeface="Cambr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i="1">
                <a:solidFill>
                  <a:srgbClr val="E3E8F0"/>
                </a:solidFill>
                <a:latin typeface="Cambria"/>
                <a:ea typeface="Cambria"/>
              </a:rPr>
              <a:t>Thursday, August 27th,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expect this morning…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463040" y="16642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the day — how today runs, start to finish.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731520" y="2372868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728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463040" y="23911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we’re here and what we’re building.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731520" y="3113532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1135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463040" y="3182539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everyone builds — and your stretch area.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731520" y="3870198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701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463040" y="3895771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team, your roles, your coaches — and how to run your day.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463040" y="46360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rules — what you can and can’t use.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2</a:t>
            </a:r>
            <a:endParaRPr lang="en-US" sz="900"/>
          </a:p>
        </p:txBody>
      </p:sp>
      <p:sp>
        <p:nvSpPr>
          <p:cNvPr id="20" name="Oval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311325"/>
            <a:ext cx="548640" cy="548640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311325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47145"/>
            <a:ext cx="9875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800">
                <a:solidFill>
                  <a:srgbClr val="1A1A1A"/>
                </a:solidFill>
                <a:latin typeface="Arial"/>
              </a:rPr>
              <a:t>Demos, judging, and what we expect — then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the day look like?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1325880" y="3451860"/>
            <a:ext cx="9692640" cy="0"/>
          </a:xfrm>
          <a:prstGeom prst="line">
            <a:avLst/>
          </a:prstGeom>
          <a:noFill/>
          <a:ln w="25400">
            <a:solidFill>
              <a:srgbClr val="C8C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33600" y="3040380"/>
            <a:ext cx="822960" cy="8229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33600" y="30403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493520" y="23865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493520" y="398678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Join Your Teams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1A1A1A"/>
                </a:solidFill>
                <a:cs typeface="Arial" pitchFamily="34" charset="-120"/>
              </a:rPr>
              <a:t>&amp; Assign Roles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947160" y="3040380"/>
            <a:ext cx="822960" cy="8229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47160" y="30403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3307080" y="235000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3307080" y="3950207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3040380"/>
            <a:ext cx="822960" cy="8229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30403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512064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Midday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512064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Lunch Break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24800" y="3040380"/>
            <a:ext cx="822960" cy="8229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24800" y="30403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7284720" y="23641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3:30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284720" y="396437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Stop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Prep Demos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55480" y="3040380"/>
            <a:ext cx="822960" cy="8229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55480" y="30403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8915400" y="232257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4:00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8915400" y="3922777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Demos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Judging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Cameras Required.  </a:t>
            </a:r>
          </a:p>
          <a:p>
            <a:pPr algn="ctr"/>
            <a:r>
              <a:rPr lang="en-US" sz="155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Coach </a:t>
            </a:r>
            <a:r>
              <a:rPr lang="en-US" sz="155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</a:rPr>
              <a:t>will pop in and out of your Team throughout the day to check-in and observe. </a:t>
            </a:r>
          </a:p>
          <a:p>
            <a:pPr algn="ctr"/>
            <a:r>
              <a:rPr lang="en-US" sz="1550" i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</a:rPr>
              <a:t>Stuck – Send an email to Corinne, Paul, Rosna.</a:t>
            </a:r>
          </a:p>
          <a:p>
            <a:pPr marL="0" indent="0">
              <a:buNone/>
            </a:pP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13</a:t>
            </a:r>
            <a:endParaRPr lang="en-US" sz="90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4080F18B-754B-E6EE-F549-9DDF3101A44E}"/>
              </a:ext>
            </a:extLst>
          </p:cNvPr>
          <p:cNvSpPr/>
          <p:nvPr/>
        </p:nvSpPr>
        <p:spPr>
          <a:xfrm>
            <a:off x="685800" y="3040380"/>
            <a:ext cx="822960" cy="8229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D1012145-9DA9-E64B-2C58-FA47EB25DF97}"/>
              </a:ext>
            </a:extLst>
          </p:cNvPr>
          <p:cNvSpPr/>
          <p:nvPr/>
        </p:nvSpPr>
        <p:spPr>
          <a:xfrm>
            <a:off x="685800" y="30403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2992E4FD-CE25-4E20-8D7A-45211FEACB8D}"/>
              </a:ext>
            </a:extLst>
          </p:cNvPr>
          <p:cNvSpPr/>
          <p:nvPr/>
        </p:nvSpPr>
        <p:spPr>
          <a:xfrm>
            <a:off x="45720" y="241401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8:30</a:t>
            </a:r>
            <a:endParaRPr lang="en-US" sz="160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471AAA44-08D8-05E9-3DE2-6E929D29777E}"/>
              </a:ext>
            </a:extLst>
          </p:cNvPr>
          <p:cNvSpPr/>
          <p:nvPr/>
        </p:nvSpPr>
        <p:spPr>
          <a:xfrm>
            <a:off x="45720" y="4014217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Kickoff </a:t>
            </a:r>
            <a:r>
              <a:rPr lang="en-US" sz="1200">
                <a:solidFill>
                  <a:srgbClr val="1A1A1A"/>
                </a:solidFill>
                <a:cs typeface="Arial" pitchFamily="34" charset="-120"/>
              </a:rPr>
              <a:t>&amp; 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1A1A1A"/>
                </a:solidFill>
                <a:cs typeface="Arial" pitchFamily="34" charset="-120"/>
              </a:rPr>
              <a:t>Team Assignments</a:t>
            </a:r>
            <a:endParaRPr lang="en-US" sz="1200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504B6C0C-7D2E-519F-8293-ACA418F85F17}"/>
              </a:ext>
            </a:extLst>
          </p:cNvPr>
          <p:cNvSpPr/>
          <p:nvPr/>
        </p:nvSpPr>
        <p:spPr>
          <a:xfrm>
            <a:off x="11017624" y="3040380"/>
            <a:ext cx="822960" cy="8229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6832B1FF-03C3-AC9A-4F3F-8137C39B388D}"/>
              </a:ext>
            </a:extLst>
          </p:cNvPr>
          <p:cNvSpPr/>
          <p:nvPr/>
        </p:nvSpPr>
        <p:spPr>
          <a:xfrm>
            <a:off x="11017624" y="30403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DE71ADE9-E94E-C040-9574-18A3C98D4C07}"/>
              </a:ext>
            </a:extLst>
          </p:cNvPr>
          <p:cNvSpPr/>
          <p:nvPr/>
        </p:nvSpPr>
        <p:spPr>
          <a:xfrm>
            <a:off x="10377544" y="22951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5:30</a:t>
            </a:r>
            <a:endParaRPr lang="en-US" sz="1600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CAE1A3BD-812C-37F2-3AE2-159090E35662}"/>
              </a:ext>
            </a:extLst>
          </p:cNvPr>
          <p:cNvSpPr/>
          <p:nvPr/>
        </p:nvSpPr>
        <p:spPr>
          <a:xfrm>
            <a:off x="10377544" y="389534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Wrap Up</a:t>
            </a:r>
            <a:endParaRPr lang="en-US" sz="1200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DA096DA0-D3B6-3C31-9B1B-424CDDE895C4}"/>
              </a:ext>
            </a:extLst>
          </p:cNvPr>
          <p:cNvSpPr/>
          <p:nvPr/>
        </p:nvSpPr>
        <p:spPr>
          <a:xfrm>
            <a:off x="834390" y="1809442"/>
            <a:ext cx="525780" cy="540565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EE4242-EA91-E88C-C6FB-5F6B1BCDB80F}"/>
              </a:ext>
            </a:extLst>
          </p:cNvPr>
          <p:cNvSpPr/>
          <p:nvPr/>
        </p:nvSpPr>
        <p:spPr>
          <a:xfrm>
            <a:off x="1892674" y="2160344"/>
            <a:ext cx="7495166" cy="288790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BA8F2E-DF10-A1D4-D9FC-0EE1B394B3CA}"/>
              </a:ext>
            </a:extLst>
          </p:cNvPr>
          <p:cNvSpPr txBox="1"/>
          <p:nvPr/>
        </p:nvSpPr>
        <p:spPr>
          <a:xfrm>
            <a:off x="4982416" y="1737740"/>
            <a:ext cx="1350178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5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</a:rPr>
              <a:t>In Your Teams</a:t>
            </a:r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191F7D01-BB12-2A57-1F4F-6269EA480462}"/>
              </a:ext>
            </a:extLst>
          </p:cNvPr>
          <p:cNvSpPr/>
          <p:nvPr/>
        </p:nvSpPr>
        <p:spPr>
          <a:xfrm>
            <a:off x="10435590" y="1855471"/>
            <a:ext cx="525780" cy="540565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D62CF53-5DDC-05FC-E542-9016E156D033}"/>
              </a:ext>
            </a:extLst>
          </p:cNvPr>
          <p:cNvSpPr/>
          <p:nvPr/>
        </p:nvSpPr>
        <p:spPr>
          <a:xfrm>
            <a:off x="7492365" y="310448"/>
            <a:ext cx="432435" cy="384877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3EB75C-EB20-D05E-4553-6721694562AB}"/>
              </a:ext>
            </a:extLst>
          </p:cNvPr>
          <p:cNvSpPr txBox="1"/>
          <p:nvPr/>
        </p:nvSpPr>
        <p:spPr>
          <a:xfrm>
            <a:off x="8159582" y="364465"/>
            <a:ext cx="3439403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5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</a:rPr>
              <a:t>Join the main Hackathon Team Meeting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we’re here today…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731520" y="2935224"/>
            <a:ext cx="640080" cy="64008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935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1600200" y="288950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real AI skills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600200" y="334670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 using AI 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design, build and test.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640080" cy="64008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600200" y="1527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something useful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600200" y="19842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slice of a system 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BGC IT actually needs — not an exercise.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640080" cy="64008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1600200" y="4343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what’s next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1600200" y="48006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learn today </a:t>
            </a: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where we invest in AI tools and training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3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challenge…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we internally build a Time Tracking System? </a:t>
            </a:r>
          </a:p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builds a working piece in a day; recording a week of hours and classifying each hour as capital or operating expense.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4069080"/>
            <a:ext cx="640080" cy="64008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87452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week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874520" y="4434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against projects and categories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806440" y="4297680"/>
            <a:ext cx="548640" cy="274320"/>
          </a:xfrm>
          <a:prstGeom prst="rightArrow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356616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03720" y="4069080"/>
            <a:ext cx="640080" cy="64008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772668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each hour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7726680" y="4434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(CapEx) or operating (OpEx)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everyone builds: The Foundation.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640080" cy="64008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timesheet entry screen</a:t>
            </a:r>
            <a:endParaRPr lang="en-US" sz="1900"/>
          </a:p>
        </p:txBody>
      </p:sp>
      <p:sp>
        <p:nvSpPr>
          <p:cNvPr id="7" name="Text 5"/>
          <p:cNvSpPr/>
          <p:nvPr/>
        </p:nvSpPr>
        <p:spPr>
          <a:xfrm>
            <a:off x="1051560" y="3246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 week of hours against projects and non-project categories, in 15-minute increments, with a running total.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29400" y="1920240"/>
            <a:ext cx="640080" cy="64008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CapEx / OpEx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6629400" y="3246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project hour classified as capital or operating, based on the task code chosen. Non-project time is operating expense.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achievable in a day.  </a:t>
            </a:r>
            <a:r>
              <a:rPr lang="en-US" sz="15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bar.  Everyone hits it before anything else.</a:t>
            </a:r>
            <a:endParaRPr lang="en-US" sz="155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5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…then pick a Stretch Area.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close flow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051560" y="34290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→ correction window → lock the period.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965960"/>
            <a:ext cx="594360" cy="5943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dashboard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hours vs. support hours, at a glance.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Capital vs. OpEx hours, at a glance.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16459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75320" y="1965960"/>
            <a:ext cx="594360" cy="59436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7532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8275320" y="2697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3E4B66"/>
                </a:solidFill>
                <a:latin typeface="Arial" pitchFamily="34" charset="0"/>
                <a:cs typeface="Arial" pitchFamily="34" charset="-120"/>
              </a:rPr>
              <a:t>AI classification helper</a:t>
            </a:r>
          </a:p>
        </p:txBody>
      </p:sp>
      <p:sp>
        <p:nvSpPr>
          <p:cNvPr id="17" name="Text 15"/>
          <p:cNvSpPr/>
          <p:nvPr/>
        </p:nvSpPr>
        <p:spPr>
          <a:xfrm>
            <a:off x="8275320" y="34290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CapEx/OpEx for the tricky judgment calls.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picks one. </a:t>
            </a:r>
            <a:r>
              <a:rPr lang="en-US" sz="15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you get is up to you — that's part of what makes it interesting.</a:t>
            </a:r>
            <a:endParaRPr lang="en-US" sz="1550"/>
          </a:p>
        </p:txBody>
      </p:sp>
      <p:sp>
        <p:nvSpPr>
          <p:cNvPr id="19" name="Text 1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6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48640"/>
            <a:ext cx="10881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>
                <a:solidFill>
                  <a:srgbClr val="3E4B66"/>
                </a:solidFill>
                <a:latin typeface="Cambria"/>
              </a:rPr>
              <a:t>Your teams are cross functional diverse teams.</a:t>
            </a:r>
          </a:p>
        </p:txBody>
      </p:sp>
      <p:sp>
        <p:nvSpPr>
          <p:cNvPr id="5" name="Ov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636776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70992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934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Owner / Business 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38528"/>
            <a:ext cx="45079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F8A7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Responsibilities: 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Interpret requirements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prioritize features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keep the team focused on Foundation first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9868" y="2596896"/>
            <a:ext cx="4507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“You own correctness, not coding.”</a:t>
            </a:r>
          </a:p>
        </p:txBody>
      </p:sp>
      <p:sp>
        <p:nvSpPr>
          <p:cNvPr id="11" name="Ova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271547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3344699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44115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Prompt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73299"/>
            <a:ext cx="45079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F8A7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Responsibilities: 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Generate code, test data, and UI mockups; refine prompts; explain AI outputs.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29543"/>
            <a:ext cx="45079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“Your job is to make the AI productive.”</a:t>
            </a:r>
          </a:p>
        </p:txBody>
      </p:sp>
      <p:sp>
        <p:nvSpPr>
          <p:cNvPr id="17" name="Oval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974336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504748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4690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Builder / Integrator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76088"/>
            <a:ext cx="45079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F8A7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Responsibilities: 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Assemble components; fix errors; connect screens; debug and package the demo.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934456"/>
            <a:ext cx="45079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 pull it together</a:t>
            </a: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.”</a:t>
            </a:r>
          </a:p>
        </p:txBody>
      </p:sp>
      <p:sp>
        <p:nvSpPr>
          <p:cNvPr id="23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0448" y="1627632"/>
            <a:ext cx="18288" cy="4315968"/>
          </a:xfrm>
          <a:prstGeom prst="rect">
            <a:avLst/>
          </a:prstGeom>
          <a:solidFill>
            <a:srgbClr val="E6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636776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2200" y="170992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160934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QA / Demo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1938528"/>
            <a:ext cx="45079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F8A7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Responsibilities: 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Test scenarios; find defects; validate calculations; prepare demo script.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2596896"/>
            <a:ext cx="45079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 sure your team is prepared for </a:t>
            </a: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 time.”</a:t>
            </a:r>
          </a:p>
        </p:txBody>
      </p:sp>
      <p:sp>
        <p:nvSpPr>
          <p:cNvPr id="30" name="Oval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3263001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72200" y="3336153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3235569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Scrum Master / Delivery Lead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3564753"/>
            <a:ext cx="45079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F8A7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Responsibilities: 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Coordinate work; remove blockers; track milestones; manage scope; keep demo focus.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4223121"/>
            <a:ext cx="4507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“Keep the team moving, aligned, and focused on outcomes.”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CONFIDENTIAL – INTERNAL USE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A647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 Tracking Build Challenge  ·  16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E608C64-7958-E770-E045-5A316F76F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4752066"/>
            <a:ext cx="5312664" cy="154815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758255-4A8A-3C25-0D4D-122E83FB0B20}"/>
              </a:ext>
            </a:extLst>
          </p:cNvPr>
          <p:cNvSpPr txBox="1"/>
          <p:nvPr/>
        </p:nvSpPr>
        <p:spPr>
          <a:xfrm>
            <a:off x="6528816" y="5008098"/>
            <a:ext cx="427964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F8A7E"/>
                </a:solidFill>
                <a:latin typeface="Arial"/>
              </a:rPr>
              <a:t>TEAM SETUP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42A92F-4118-1E2E-9454-22681BD456A8}"/>
              </a:ext>
            </a:extLst>
          </p:cNvPr>
          <p:cNvSpPr txBox="1"/>
          <p:nvPr/>
        </p:nvSpPr>
        <p:spPr>
          <a:xfrm>
            <a:off x="6519673" y="5209266"/>
            <a:ext cx="427964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latin typeface="Cambria"/>
              </a:rPr>
              <a:t>6 teams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4F0C84-24DB-295B-2E1B-4BC3B5D3D0EA}"/>
              </a:ext>
            </a:extLst>
          </p:cNvPr>
          <p:cNvSpPr txBox="1"/>
          <p:nvPr/>
        </p:nvSpPr>
        <p:spPr>
          <a:xfrm>
            <a:off x="6528816" y="5785338"/>
            <a:ext cx="42058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 dirty="0">
                <a:solidFill>
                  <a:srgbClr val="1A1A1A"/>
                </a:solidFill>
                <a:latin typeface="Arial"/>
              </a:rPr>
              <a:t>about </a:t>
            </a:r>
            <a:r>
              <a:rPr lang="en-US" sz="1800" b="1" i="0" dirty="0">
                <a:solidFill>
                  <a:srgbClr val="1A1A1A"/>
                </a:solidFill>
                <a:latin typeface="Arial"/>
              </a:rPr>
              <a:t>7 - 8</a:t>
            </a:r>
            <a:r>
              <a:rPr sz="1800" b="1" i="0" dirty="0">
                <a:solidFill>
                  <a:srgbClr val="1A1A1A"/>
                </a:solidFill>
                <a:latin typeface="Arial"/>
              </a:rPr>
              <a:t> people each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E4B66"/>
                </a:solidFill>
                <a:latin typeface="Cambria"/>
              </a:rPr>
              <a:t>How to start and run your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6984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472"/>
                </a:solidFill>
                <a:latin typeface="Arial"/>
              </a:rPr>
              <a:t>Your Scrum Master drives this. There is no single right answer — work the way your team works best.</a:t>
            </a:r>
          </a:p>
        </p:txBody>
      </p:sp>
      <p:sp>
        <p:nvSpPr>
          <p:cNvPr id="5" name="Ov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636776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70992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934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Arial"/>
              </a:rPr>
              <a:t>Start with introductions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38528"/>
            <a:ext cx="45079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2F8A7E"/>
                </a:solidFill>
                <a:latin typeface="Arial"/>
              </a:rPr>
              <a:t>Quick intros and a skills review, </a:t>
            </a:r>
            <a:r>
              <a:rPr sz="1400" b="0">
                <a:solidFill>
                  <a:srgbClr val="1A1A1A"/>
                </a:solidFill>
                <a:latin typeface="Arial"/>
              </a:rPr>
              <a:t>then define your roles so everyone knows how they contribute.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9868" y="2596896"/>
            <a:ext cx="4507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2"/>
                </a:solidFill>
                <a:latin typeface="Arial"/>
              </a:rPr>
              <a:t>“First 30 minutes, before any building.”</a:t>
            </a:r>
          </a:p>
        </p:txBody>
      </p:sp>
      <p:sp>
        <p:nvSpPr>
          <p:cNvPr id="11" name="Ova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271547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344699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44115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Arial"/>
              </a:rPr>
              <a:t>Draft a plan up 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73299"/>
            <a:ext cx="45079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2F8A7E"/>
                </a:solidFill>
                <a:latin typeface="Arial"/>
              </a:rPr>
              <a:t>Brainstorm, agree your approach and your stack, </a:t>
            </a:r>
            <a:r>
              <a:rPr sz="1400" b="0">
                <a:solidFill>
                  <a:srgbClr val="1A1A1A"/>
                </a:solidFill>
                <a:latin typeface="Arial"/>
              </a:rPr>
              <a:t>and decide who validates the Foundation and who chases the stretch goal.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13426"/>
            <a:ext cx="45079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2"/>
                </a:solidFill>
                <a:latin typeface="Arial"/>
              </a:rPr>
              <a:t>“A rough plan beats no plan.”</a:t>
            </a:r>
          </a:p>
        </p:txBody>
      </p:sp>
      <p:sp>
        <p:nvSpPr>
          <p:cNvPr id="17" name="Oval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974336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504748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4690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Arial"/>
              </a:rPr>
              <a:t>Use your licenses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76088"/>
            <a:ext cx="45079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2F8A7E"/>
                </a:solidFill>
                <a:latin typeface="Arial"/>
              </a:rPr>
              <a:t>Everyone has at least one paid AI license — use it. </a:t>
            </a:r>
            <a:r>
              <a:rPr sz="1400" b="0">
                <a:solidFill>
                  <a:srgbClr val="1A1A1A"/>
                </a:solidFill>
                <a:latin typeface="Arial"/>
              </a:rPr>
              <a:t>Without a license you can still prompt, test, validate and document.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6162" y="6040774"/>
            <a:ext cx="45079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2"/>
                </a:solidFill>
                <a:latin typeface="Arial"/>
              </a:rPr>
              <a:t>“</a:t>
            </a:r>
            <a:r>
              <a:rPr lang="en-US" sz="1400" i="1">
                <a:solidFill>
                  <a:srgbClr val="5A6472"/>
                </a:solidFill>
                <a:latin typeface="Arial"/>
              </a:rPr>
              <a:t>There is a job for every person</a:t>
            </a:r>
            <a:r>
              <a:rPr sz="1400" b="0" i="1">
                <a:solidFill>
                  <a:srgbClr val="5A6472"/>
                </a:solidFill>
                <a:latin typeface="Arial"/>
              </a:rPr>
              <a:t>.”</a:t>
            </a:r>
          </a:p>
        </p:txBody>
      </p:sp>
      <p:sp>
        <p:nvSpPr>
          <p:cNvPr id="23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0448" y="1627632"/>
            <a:ext cx="18288" cy="4530000"/>
          </a:xfrm>
          <a:prstGeom prst="rect">
            <a:avLst/>
          </a:prstGeom>
          <a:solidFill>
            <a:srgbClr val="E6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636776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170992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1609344"/>
            <a:ext cx="4507992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50" b="1" i="0">
                <a:solidFill>
                  <a:srgbClr val="1A1A1A"/>
                </a:solidFill>
                <a:latin typeface="Arial"/>
              </a:rPr>
              <a:t>Don’t be afraid to work in pairs</a:t>
            </a:r>
            <a:r>
              <a:rPr sz="1550" b="1" i="0">
                <a:solidFill>
                  <a:srgbClr val="1A1A1A"/>
                </a:solidFill>
                <a:latin typeface="Arial"/>
              </a:rPr>
              <a:t>, not silos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1938528"/>
            <a:ext cx="45079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2F8A7E"/>
                </a:solidFill>
                <a:latin typeface="Arial"/>
              </a:rPr>
              <a:t>Double up on roles. 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Parallel path, pair senior with junior, or divide and conquer — whatever </a:t>
            </a:r>
            <a:r>
              <a:rPr lang="en-US" sz="1400" b="0" dirty="0">
                <a:solidFill>
                  <a:srgbClr val="1A1A1A"/>
                </a:solidFill>
                <a:latin typeface="Arial"/>
              </a:rPr>
              <a:t>is best for your team and moves you forward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2681198"/>
            <a:ext cx="45079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 dirty="0">
                <a:solidFill>
                  <a:srgbClr val="5A6472"/>
                </a:solidFill>
                <a:latin typeface="Arial"/>
              </a:rPr>
              <a:t>“Collaborate</a:t>
            </a:r>
            <a:r>
              <a:rPr lang="en-US" sz="1400" b="0" i="1" dirty="0">
                <a:solidFill>
                  <a:srgbClr val="5A6472"/>
                </a:solidFill>
                <a:latin typeface="Arial"/>
              </a:rPr>
              <a:t>!</a:t>
            </a:r>
            <a:r>
              <a:rPr sz="1400" b="0" i="1" dirty="0">
                <a:solidFill>
                  <a:srgbClr val="5A6472"/>
                </a:solidFill>
                <a:latin typeface="Arial"/>
              </a:rPr>
              <a:t>”</a:t>
            </a:r>
          </a:p>
        </p:txBody>
      </p:sp>
      <p:sp>
        <p:nvSpPr>
          <p:cNvPr id="30" name="Oval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3263001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3336153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3235569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Arial"/>
              </a:rPr>
              <a:t>Bring everyone along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3564753"/>
            <a:ext cx="45079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2F8A7E"/>
                </a:solidFill>
                <a:latin typeface="Arial"/>
              </a:rPr>
              <a:t>Share screens </a:t>
            </a:r>
            <a:r>
              <a:rPr sz="1400" b="0">
                <a:solidFill>
                  <a:srgbClr val="1A1A1A"/>
                </a:solidFill>
                <a:latin typeface="Arial"/>
              </a:rPr>
              <a:t>so the team can watch the build happen, and encourage experimentation throughout the day.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4223121"/>
            <a:ext cx="4507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2"/>
                </a:solidFill>
                <a:latin typeface="Arial"/>
              </a:rPr>
              <a:t>“Watching is how people learn.”</a:t>
            </a:r>
          </a:p>
        </p:txBody>
      </p:sp>
      <p:sp>
        <p:nvSpPr>
          <p:cNvPr id="40" name="Oval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4974336"/>
            <a:ext cx="384048" cy="384048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504748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9128" y="4946904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A1A1A"/>
                </a:solidFill>
                <a:latin typeface="Arial"/>
              </a:rPr>
              <a:t>Check in hourly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9128" y="5276088"/>
            <a:ext cx="45079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2F8A7E"/>
                </a:solidFill>
                <a:latin typeface="Arial"/>
              </a:rPr>
              <a:t>Run short hourly scrums, </a:t>
            </a:r>
            <a:r>
              <a:rPr sz="1400" b="0">
                <a:solidFill>
                  <a:srgbClr val="1A1A1A"/>
                </a:solidFill>
                <a:latin typeface="Arial"/>
              </a:rPr>
              <a:t>track milestones and progress in Teams, and raise blockers early — don’t wait until the end.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9128" y="6048979"/>
            <a:ext cx="450799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A6472"/>
                </a:solidFill>
                <a:latin typeface="Arial"/>
              </a:rPr>
              <a:t>“Raise blockers early to Corinne, Paul </a:t>
            </a:r>
            <a:r>
              <a:rPr lang="en-US" sz="1400" b="0" i="1">
                <a:solidFill>
                  <a:srgbClr val="5A6472"/>
                </a:solidFill>
                <a:latin typeface="Arial"/>
              </a:rPr>
              <a:t>and</a:t>
            </a:r>
            <a:r>
              <a:rPr sz="1400" b="0" i="1">
                <a:solidFill>
                  <a:srgbClr val="5A6472"/>
                </a:solidFill>
                <a:latin typeface="Arial"/>
              </a:rPr>
              <a:t> Rosna</a:t>
            </a:r>
            <a:r>
              <a:rPr lang="en-US" sz="1400" b="0" i="1">
                <a:solidFill>
                  <a:srgbClr val="5A6472"/>
                </a:solidFill>
                <a:latin typeface="Arial"/>
              </a:rPr>
              <a:t> in email</a:t>
            </a:r>
            <a:r>
              <a:rPr sz="1400" b="0" i="1">
                <a:solidFill>
                  <a:srgbClr val="5A6472"/>
                </a:solidFill>
                <a:latin typeface="Arial"/>
              </a:rPr>
              <a:t>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472"/>
                </a:solidFill>
                <a:latin typeface="Arial"/>
              </a:rPr>
              <a:t>CONFIDENTIAL – INTERNAL USE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6437376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472"/>
                </a:solidFill>
                <a:latin typeface="Arial"/>
              </a:rPr>
              <a:t>Time Tracking Build Challenge  ·  </a:t>
            </a:r>
            <a:r>
              <a:rPr lang="en-US" sz="900" b="0" i="0">
                <a:solidFill>
                  <a:srgbClr val="5A6472"/>
                </a:solidFill>
                <a:latin typeface="Arial"/>
              </a:rPr>
              <a:t>9</a:t>
            </a:r>
            <a:endParaRPr sz="900" b="0" i="0">
              <a:solidFill>
                <a:srgbClr val="5A647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3E4B66"/>
                </a:solidFill>
                <a:latin typeface="Cambria"/>
              </a:rPr>
              <a:t>Coaches, support, and where everything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607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A6472"/>
                </a:solidFill>
                <a:latin typeface="Arial"/>
              </a:rPr>
              <a:t>You are not on your own today — ask early rather than staying stuck.</a:t>
            </a:r>
          </a:p>
        </p:txBody>
      </p:sp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719072"/>
            <a:ext cx="3520440" cy="4187952"/>
          </a:xfrm>
          <a:prstGeom prst="rect">
            <a:avLst/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" y="1909245"/>
            <a:ext cx="2816352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>
                <a:solidFill>
                  <a:srgbClr val="2F8A7E"/>
                </a:solidFill>
                <a:latin typeface="Cambria"/>
              </a:rPr>
              <a:t>Stuck – Send an email to Corinne, Paul, Rosna</a:t>
            </a:r>
            <a:endParaRPr sz="2800" b="1">
              <a:solidFill>
                <a:srgbClr val="2F8A7E"/>
              </a:solidFill>
              <a:latin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75887"/>
            <a:ext cx="278892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>
                <a:latin typeface="Arial"/>
              </a:rPr>
              <a:t>Six coaches will rotate through the team channels to check in and observe. They guide; they don’t build for you.</a:t>
            </a:r>
          </a:p>
        </p:txBody>
      </p:sp>
      <p:sp>
        <p:nvSpPr>
          <p:cNvPr id="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783080"/>
            <a:ext cx="18288" cy="402336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700784"/>
            <a:ext cx="6537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F8A7E"/>
                </a:solidFill>
                <a:latin typeface="Cambria"/>
              </a:rPr>
              <a:t>Where to find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6537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  <a:latin typeface="Arial"/>
              </a:rPr>
              <a:t>All posted in the main Teams channel</a:t>
            </a:r>
            <a:r>
              <a:rPr lang="en-US" sz="1600" b="0" dirty="0">
                <a:solidFill>
                  <a:srgbClr val="1A1A1A"/>
                </a:solidFill>
                <a:latin typeface="Arial"/>
              </a:rPr>
              <a:t> and will be sent in email</a:t>
            </a:r>
            <a:r>
              <a:rPr sz="1600" b="0" dirty="0">
                <a:solidFill>
                  <a:srgbClr val="1A1A1A"/>
                </a:solidFill>
                <a:latin typeface="Arial"/>
              </a:rPr>
              <a:t>: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2779776"/>
            <a:ext cx="384048" cy="384048"/>
          </a:xfrm>
          <a:prstGeom prst="ellipse">
            <a:avLst/>
          </a:prstGeom>
          <a:solidFill>
            <a:srgbClr val="2F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743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Arial"/>
              </a:rPr>
              <a:t>Hackathon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035808"/>
            <a:ext cx="5943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0">
                <a:solidFill>
                  <a:srgbClr val="1A1A1A"/>
                </a:solidFill>
                <a:latin typeface="Arial"/>
              </a:rPr>
              <a:t>Partner list, project list, coding categories and fiscal calendars.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3511296"/>
            <a:ext cx="384048" cy="384048"/>
          </a:xfrm>
          <a:prstGeom prst="ellipse">
            <a:avLst/>
          </a:prstGeom>
          <a:solidFill>
            <a:srgbClr val="2F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56616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3474720"/>
            <a:ext cx="5943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Arial"/>
              </a:rPr>
              <a:t>The </a:t>
            </a:r>
            <a:r>
              <a:rPr lang="en-US" sz="1550" b="1">
                <a:solidFill>
                  <a:srgbClr val="1A1A1A"/>
                </a:solidFill>
                <a:latin typeface="Arial"/>
              </a:rPr>
              <a:t>R</a:t>
            </a:r>
            <a:r>
              <a:rPr sz="1550" b="1">
                <a:solidFill>
                  <a:srgbClr val="1A1A1A"/>
                </a:solidFill>
                <a:latin typeface="Arial"/>
              </a:rPr>
              <a:t>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3767328"/>
            <a:ext cx="5943600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20" b="0" dirty="0">
                <a:solidFill>
                  <a:srgbClr val="1A1A1A"/>
                </a:solidFill>
                <a:latin typeface="Arial"/>
              </a:rPr>
              <a:t>A comprehensive requirements document</a:t>
            </a:r>
            <a:r>
              <a:rPr sz="1420" b="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4315968"/>
            <a:ext cx="384048" cy="384048"/>
          </a:xfrm>
          <a:prstGeom prst="ellipse">
            <a:avLst/>
          </a:prstGeom>
          <a:solidFill>
            <a:srgbClr val="2F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437083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4279392"/>
            <a:ext cx="5943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Arial"/>
              </a:rPr>
              <a:t>This </a:t>
            </a:r>
            <a:r>
              <a:rPr lang="en-US" sz="1550" b="1">
                <a:solidFill>
                  <a:srgbClr val="1A1A1A"/>
                </a:solidFill>
                <a:latin typeface="Arial"/>
              </a:rPr>
              <a:t>D</a:t>
            </a:r>
            <a:r>
              <a:rPr sz="1550" b="1">
                <a:solidFill>
                  <a:srgbClr val="1A1A1A"/>
                </a:solidFill>
                <a:latin typeface="Arial"/>
              </a:rPr>
              <a:t>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572000"/>
            <a:ext cx="6374892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20" b="0" dirty="0">
                <a:solidFill>
                  <a:srgbClr val="1A1A1A"/>
                </a:solidFill>
                <a:latin typeface="Arial"/>
              </a:rPr>
              <a:t>See the coach schedule, check out the timeline again, review the team roles</a:t>
            </a:r>
            <a:r>
              <a:rPr sz="1420" b="0" dirty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0" y="5157216"/>
            <a:ext cx="384048" cy="384048"/>
          </a:xfrm>
          <a:prstGeom prst="ellipse">
            <a:avLst/>
          </a:prstGeom>
          <a:solidFill>
            <a:srgbClr val="2F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521208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5120640"/>
            <a:ext cx="5943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Arial"/>
              </a:rPr>
              <a:t>Demo </a:t>
            </a:r>
            <a:r>
              <a:rPr lang="en-US" sz="1550" b="1">
                <a:solidFill>
                  <a:srgbClr val="1A1A1A"/>
                </a:solidFill>
                <a:latin typeface="Arial"/>
              </a:rPr>
              <a:t>S</a:t>
            </a:r>
            <a:r>
              <a:rPr sz="1550" b="1">
                <a:solidFill>
                  <a:srgbClr val="1A1A1A"/>
                </a:solidFill>
                <a:latin typeface="Arial"/>
              </a:rPr>
              <a:t>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5413248"/>
            <a:ext cx="5943600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20" b="0" dirty="0">
                <a:solidFill>
                  <a:srgbClr val="1A1A1A"/>
                </a:solidFill>
                <a:latin typeface="Arial"/>
              </a:rPr>
              <a:t>Demos start 4:00, everyone attends, demo schedule </a:t>
            </a:r>
            <a:r>
              <a:rPr sz="1420" b="0" dirty="0">
                <a:solidFill>
                  <a:srgbClr val="1A1A1A"/>
                </a:solidFill>
                <a:latin typeface="Arial"/>
              </a:rPr>
              <a:t>posted after lunch.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Arial"/>
              </a:rPr>
              <a:t>CONFIDENTIAL – INTERNAL USE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6437376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A6472"/>
                </a:solidFill>
                <a:latin typeface="Arial"/>
              </a:rPr>
              <a:t>Time Tracking Build Challenge  ·  </a:t>
            </a:r>
            <a:r>
              <a:rPr lang="en-US" sz="900" b="0">
                <a:solidFill>
                  <a:srgbClr val="5A6472"/>
                </a:solidFill>
                <a:latin typeface="Arial"/>
              </a:rPr>
              <a:t>12</a:t>
            </a:r>
            <a:endParaRPr sz="900" b="0">
              <a:solidFill>
                <a:srgbClr val="5A647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3E4B66"/>
                </a:solidFill>
                <a:latin typeface="Cambria"/>
              </a:rPr>
              <a:t>What data will </a:t>
            </a:r>
            <a:r>
              <a:rPr lang="en-US" sz="3400" b="1">
                <a:solidFill>
                  <a:srgbClr val="3E4B66"/>
                </a:solidFill>
                <a:latin typeface="Cambria"/>
              </a:rPr>
              <a:t>you</a:t>
            </a:r>
            <a:r>
              <a:rPr sz="3400" b="1">
                <a:solidFill>
                  <a:srgbClr val="3E4B66"/>
                </a:solidFill>
                <a:latin typeface="Cambria"/>
              </a:rPr>
              <a:t> need?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69848"/>
            <a:ext cx="10607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A6472"/>
                </a:solidFill>
                <a:latin typeface="Arial"/>
              </a:rPr>
              <a:t>Use only the provided Hackathon Data during the challenge</a:t>
            </a:r>
            <a:r>
              <a:rPr lang="en-US" sz="1600" b="0">
                <a:solidFill>
                  <a:srgbClr val="5A6472"/>
                </a:solidFill>
                <a:latin typeface="Arial"/>
              </a:rPr>
              <a:t> – if you think you need something more – ask!</a:t>
            </a:r>
            <a:endParaRPr sz="1600" b="0">
              <a:solidFill>
                <a:srgbClr val="5A6472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719072"/>
            <a:ext cx="3520440" cy="4187952"/>
          </a:xfrm>
          <a:prstGeom prst="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993392"/>
            <a:ext cx="2788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3030"/>
                </a:solidFill>
                <a:latin typeface="Arial"/>
              </a:rPr>
              <a:t>HEADS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441448"/>
            <a:ext cx="2816352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C53030"/>
                </a:solidFill>
                <a:latin typeface="Cambria"/>
              </a:rPr>
              <a:t>Keep real data out of AI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75887"/>
            <a:ext cx="27889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dirty="0">
                <a:latin typeface="Arial"/>
              </a:rPr>
              <a:t>Partner data and non-public company data should never be put into AI tools.</a:t>
            </a:r>
            <a:endParaRPr lang="en-US" sz="1600" dirty="0">
              <a:latin typeface="Arial"/>
            </a:endParaRPr>
          </a:p>
        </p:txBody>
      </p:sp>
      <p:sp>
        <p:nvSpPr>
          <p:cNvPr id="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7992" y="1783080"/>
            <a:ext cx="18288" cy="4023360"/>
          </a:xfrm>
          <a:prstGeom prst="rect">
            <a:avLst/>
          </a:prstGeom>
          <a:solidFill>
            <a:srgbClr val="F2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700784"/>
            <a:ext cx="6537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F8A7E"/>
                </a:solidFill>
                <a:latin typeface="Cambria"/>
              </a:rPr>
              <a:t>Hackathon Data will be provided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6537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You will receive: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2779776"/>
            <a:ext cx="384048" cy="384048"/>
          </a:xfrm>
          <a:prstGeom prst="ellipse">
            <a:avLst/>
          </a:prstGeom>
          <a:solidFill>
            <a:srgbClr val="2F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743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Arial"/>
              </a:rPr>
              <a:t>Partner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035808"/>
            <a:ext cx="5943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0">
                <a:solidFill>
                  <a:srgbClr val="1A1A1A"/>
                </a:solidFill>
                <a:latin typeface="Arial"/>
              </a:rPr>
              <a:t>A fake partner list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3511296"/>
            <a:ext cx="384048" cy="384048"/>
          </a:xfrm>
          <a:prstGeom prst="ellipse">
            <a:avLst/>
          </a:prstGeom>
          <a:solidFill>
            <a:srgbClr val="2F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56616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347472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Arial"/>
              </a:rPr>
              <a:t>BGC Project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3767328"/>
            <a:ext cx="5943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0">
                <a:solidFill>
                  <a:srgbClr val="1A1A1A"/>
                </a:solidFill>
                <a:latin typeface="Arial"/>
              </a:rPr>
              <a:t>A fake BGC project list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4315968"/>
            <a:ext cx="384048" cy="384048"/>
          </a:xfrm>
          <a:prstGeom prst="ellipse">
            <a:avLst/>
          </a:prstGeom>
          <a:solidFill>
            <a:srgbClr val="2F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4370832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42793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Arial"/>
              </a:rPr>
              <a:t>Project &amp; Non-Project 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572000"/>
            <a:ext cx="5943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0">
                <a:solidFill>
                  <a:srgbClr val="1A1A1A"/>
                </a:solidFill>
                <a:latin typeface="Arial"/>
              </a:rPr>
              <a:t>Codes correlated to financial capital and expense categories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0" y="5157216"/>
            <a:ext cx="384048" cy="384048"/>
          </a:xfrm>
          <a:prstGeom prst="ellipse">
            <a:avLst/>
          </a:prstGeom>
          <a:solidFill>
            <a:srgbClr val="2F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521208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51206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A1A1A"/>
                </a:solidFill>
                <a:latin typeface="Arial"/>
              </a:rPr>
              <a:t>Fiscal Calendars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5413248"/>
            <a:ext cx="5943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0" b="0">
                <a:solidFill>
                  <a:srgbClr val="1A1A1A"/>
                </a:solidFill>
                <a:latin typeface="Arial"/>
              </a:rPr>
              <a:t>BGC fiscal FY26 and FY27 calendars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Arial"/>
              </a:rPr>
              <a:t>CONFIDENTIAL – INTERNAL USE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6437376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A6472"/>
                </a:solidFill>
                <a:latin typeface="Arial"/>
              </a:rPr>
              <a:t>Time Tracking Build Challenge  ·  </a:t>
            </a:r>
            <a:r>
              <a:rPr lang="en-US" sz="900" b="0">
                <a:solidFill>
                  <a:srgbClr val="5A6472"/>
                </a:solidFill>
                <a:latin typeface="Arial"/>
              </a:rPr>
              <a:t>7</a:t>
            </a:r>
            <a:endParaRPr sz="900" b="0">
              <a:solidFill>
                <a:srgbClr val="5A647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be given…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463040" y="16642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Brief</a:t>
            </a:r>
            <a:r>
              <a:rPr lang="en-US" sz="1800">
                <a:solidFill>
                  <a:srgbClr val="1A1A1A"/>
                </a:solidFill>
                <a:latin typeface="Arial" pitchFamily="34" charset="0"/>
              </a:rPr>
              <a:t> — the challenge, scope, and what “done” looks like.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731520" y="2372868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728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463040" y="23911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Data Workbook</a:t>
            </a:r>
            <a:r>
              <a:rPr lang="en-US" sz="1800" dirty="0">
                <a:solidFill>
                  <a:srgbClr val="1A1A1A"/>
                </a:solidFill>
                <a:latin typeface="Arial" pitchFamily="34" charset="0"/>
              </a:rPr>
              <a:t> — the sample data you build against.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113532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1135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463040" y="3182539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Requirements</a:t>
            </a:r>
            <a:r>
              <a:rPr lang="en-US" sz="1800">
                <a:solidFill>
                  <a:srgbClr val="1A1A1A"/>
                </a:solidFill>
                <a:latin typeface="Arial" pitchFamily="34" charset="0"/>
              </a:rPr>
              <a:t> — the Foundation everyone builds, plus the stretch areas.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731520" y="3870198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701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463040" y="3895771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 Off Deck</a:t>
            </a:r>
            <a:r>
              <a:rPr lang="en-US" sz="1800">
                <a:solidFill>
                  <a:srgbClr val="1A1A1A"/>
                </a:solidFill>
                <a:latin typeface="Arial" pitchFamily="34" charset="0"/>
              </a:rPr>
              <a:t> — this deck, for the run of day, rules, and judging criteria.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463040" y="46360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Server Instructions</a:t>
            </a:r>
            <a:r>
              <a:rPr lang="en-US" sz="1800" dirty="0">
                <a:solidFill>
                  <a:srgbClr val="1A1A1A"/>
                </a:solidFill>
                <a:latin typeface="Arial" pitchFamily="34" charset="0"/>
              </a:rPr>
              <a:t> — how to set up and run your local server environment…if you want to use this.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demos run and how you’ll be judged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46304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work?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1463040" y="20756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in the demo and does what the Foundation requires.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46304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the requirements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1463040" y="3310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build matches the ask, and meets the requirements.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46304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AI meaningfully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1463040" y="45445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team’s use of AI throughout the day.</a:t>
            </a:r>
            <a:endParaRPr lang="en-US" sz="1350"/>
          </a:p>
        </p:txBody>
      </p:sp>
      <p:sp>
        <p:nvSpPr>
          <p:cNvPr id="15" name="Shape 13"/>
          <p:cNvSpPr/>
          <p:nvPr/>
        </p:nvSpPr>
        <p:spPr>
          <a:xfrm>
            <a:off x="6400800" y="1605515"/>
            <a:ext cx="5029200" cy="4363205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76200" dist="25400" dir="5400000" algn="bl" rotWithShape="0">
              <a:srgbClr val="9AA3AF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4:00 — the demo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6766560" y="22631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main meeting channel at 4PM.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working demo.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 is fine — working beats polished.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order will be posted in the main channel.</a:t>
            </a:r>
          </a:p>
        </p:txBody>
      </p:sp>
      <p:sp>
        <p:nvSpPr>
          <p:cNvPr id="18" name="Text 16"/>
          <p:cNvSpPr/>
          <p:nvPr/>
        </p:nvSpPr>
        <p:spPr>
          <a:xfrm>
            <a:off x="6766560" y="3767328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000"/>
              </a:spcAft>
              <a:buSzPct val="100000"/>
            </a:pPr>
            <a:r>
              <a:rPr lang="en-US" sz="145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four questions…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describe your approach?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you use AI?</a:t>
            </a:r>
            <a:endParaRPr lang="en-US" sz="145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it excel; where did it have challenges?</a:t>
            </a:r>
            <a:endParaRPr lang="en-US" sz="145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>
                <a:solidFill>
                  <a:srgbClr val="3E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need to finish it — tools, time, skills, or access?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14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3E4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expect from you today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463040" y="16642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with us for the full day — cameras on.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731520" y="2372868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728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463040" y="23911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Foundation first, before any stretch.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731520" y="3113532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1135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463040" y="3182539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throughout … that’s the whole point.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731520" y="3870198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701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463040" y="3895771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live at 4:00, even if it’s rough.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2F8A7E"/>
          </a:solidFill>
          <a:ln w="12700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463040" y="46360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good teammate.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– INTERNAL USE ONLY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0350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Tracking Build Challenge  ·  15</a:t>
            </a:r>
            <a:endParaRPr lang="en-US" sz="900"/>
          </a:p>
        </p:txBody>
      </p:sp>
      <p:sp>
        <p:nvSpPr>
          <p:cNvPr id="20" name="Oval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311325"/>
            <a:ext cx="548640" cy="548640"/>
          </a:xfrm>
          <a:prstGeom prst="ellipse">
            <a:avLst/>
          </a:prstGeom>
          <a:solidFill>
            <a:srgbClr val="2F8A7E"/>
          </a:solidFill>
          <a:ln>
            <a:solidFill>
              <a:srgbClr val="2F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311325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47145"/>
            <a:ext cx="9875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>
                <a:solidFill>
                  <a:srgbClr val="1A1A1A"/>
                </a:solidFill>
                <a:latin typeface="Arial"/>
              </a:rPr>
              <a:t>Complete the </a:t>
            </a:r>
            <a:r>
              <a:rPr lang="en-US" sz="1800">
                <a:solidFill>
                  <a:srgbClr val="1A1A1A"/>
                </a:solidFill>
                <a:latin typeface="Arial"/>
              </a:rPr>
              <a:t>post Hackathon</a:t>
            </a:r>
            <a:r>
              <a:rPr sz="1800">
                <a:solidFill>
                  <a:srgbClr val="1A1A1A"/>
                </a:solidFill>
                <a:latin typeface="Arial"/>
              </a:rPr>
              <a:t> survey to share feedback and lessons learned</a:t>
            </a:r>
            <a:endParaRPr lang="en-US" sz="1800">
              <a:solidFill>
                <a:srgbClr val="1A1A1A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E4B66"/>
                </a:solidFill>
                <a:latin typeface="Cambria"/>
              </a:rPr>
              <a:t>Your teams and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6984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>
                <a:solidFill>
                  <a:srgbClr val="5A6472"/>
                </a:solidFill>
                <a:latin typeface="Arial"/>
              </a:rPr>
              <a:t>Six teams, about </a:t>
            </a:r>
            <a:r>
              <a:rPr lang="en-US" sz="1500">
                <a:solidFill>
                  <a:srgbClr val="5A6472"/>
                </a:solidFill>
                <a:latin typeface="Arial"/>
              </a:rPr>
              <a:t>seven</a:t>
            </a:r>
            <a:r>
              <a:rPr sz="1500">
                <a:solidFill>
                  <a:srgbClr val="5A6472"/>
                </a:solidFill>
                <a:latin typeface="Arial"/>
              </a:rPr>
              <a:t> people each.</a:t>
            </a:r>
            <a:r>
              <a:rPr lang="en-US" sz="1500">
                <a:solidFill>
                  <a:srgbClr val="5A6472"/>
                </a:solidFill>
                <a:latin typeface="Arial"/>
              </a:rPr>
              <a:t> Find your name</a:t>
            </a:r>
            <a:r>
              <a:rPr sz="1500" b="0" i="0">
                <a:solidFill>
                  <a:srgbClr val="5A6472"/>
                </a:solidFill>
                <a:latin typeface="Arial"/>
              </a:rPr>
              <a:t>, join your channel, and start with quick introductions.</a:t>
            </a:r>
          </a:p>
        </p:txBody>
      </p:sp>
      <p:graphicFrame>
        <p:nvGraphicFramePr>
          <p:cNvPr id="60" name="Tea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634738"/>
              </p:ext>
            </p:extLst>
          </p:nvPr>
        </p:nvGraphicFramePr>
        <p:xfrm>
          <a:off x="640079" y="1524000"/>
          <a:ext cx="1111649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9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4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>
                          <a:solidFill>
                            <a:srgbClr val="FFFFFF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 marL="118872" marR="118872" marT="82296" marB="82296" anchor="ctr">
                    <a:lnB w="9525" cap="flat" cmpd="sng" algn="ctr">
                      <a:solidFill>
                        <a:srgbClr val="3E4B66"/>
                      </a:solidFill>
                    </a:lnB>
                    <a:solidFill>
                      <a:srgbClr val="3E4B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>
                          <a:solidFill>
                            <a:srgbClr val="FFFFFF"/>
                          </a:solidFill>
                          <a:latin typeface="Arial"/>
                        </a:rPr>
                        <a:t>Members</a:t>
                      </a:r>
                    </a:p>
                  </a:txBody>
                  <a:tcPr marL="118872" marR="118872" marT="82296" marB="82296" anchor="ctr">
                    <a:lnB w="9525" cap="flat" cmpd="sng" algn="ctr">
                      <a:solidFill>
                        <a:srgbClr val="3E4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B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>
                          <a:solidFill>
                            <a:srgbClr val="FFFFFF"/>
                          </a:solidFill>
                          <a:latin typeface="Arial"/>
                        </a:rPr>
                        <a:t>Coaches</a:t>
                      </a:r>
                    </a:p>
                  </a:txBody>
                  <a:tcPr marL="118872" marR="118872" marT="82296" marB="82296" anchor="ctr">
                    <a:lnB w="9525" cap="flat" cmpd="sng" algn="ctr">
                      <a:solidFill>
                        <a:srgbClr val="3E4B66"/>
                      </a:solidFill>
                    </a:lnB>
                    <a:solidFill>
                      <a:srgbClr val="3E4B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>
                          <a:solidFill>
                            <a:srgbClr val="2F8A7E"/>
                          </a:solidFill>
                          <a:latin typeface="Arial"/>
                        </a:rPr>
                        <a:t>Blue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3E4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US" sz="12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Aidan Hendershot, Annette Adams, Bill Hart, Darren Weaver, Jaykumar Ahir, Patricia Mckinney, Rob Peel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3E4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Coaches will float across all teams throughout the day.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400" b="0" i="0">
                        <a:solidFill>
                          <a:srgbClr val="5A6472"/>
                        </a:solidFill>
                        <a:latin typeface="Arial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400" b="0" i="0">
                        <a:solidFill>
                          <a:srgbClr val="5A6472"/>
                        </a:solidFill>
                        <a:latin typeface="Arial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>
                          <a:solidFill>
                            <a:srgbClr val="5A6472"/>
                          </a:solidFill>
                          <a:latin typeface="Arial"/>
                        </a:rPr>
                        <a:t>Curtis Wiggins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>
                          <a:solidFill>
                            <a:srgbClr val="5A6472"/>
                          </a:solidFill>
                          <a:latin typeface="Arial"/>
                        </a:rPr>
                        <a:t>Kevin Holland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>
                          <a:solidFill>
                            <a:srgbClr val="5A6472"/>
                          </a:solidFill>
                          <a:latin typeface="Arial"/>
                        </a:rPr>
                        <a:t>Eddie Collins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Suzanne Lowrance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Tom Pile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Akshatha Aralihalli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3E4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>
                          <a:solidFill>
                            <a:srgbClr val="2F8A7E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US" sz="12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Chris Van Tuyl, Delaney Essman, Eric Brooks, Jennifer Shires, Jonathan Cummins, Matthew Herod, Shelly Simmons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>
                          <a:solidFill>
                            <a:srgbClr val="2F8A7E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US" sz="12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Caitlin Hedrick, Chris Clark, Glenn Moore, Josh Smith, Joel Turrentine, Quinn Gregory, Robert Campbell, Scott Bates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>
                          <a:solidFill>
                            <a:srgbClr val="2F8A7E"/>
                          </a:solidFill>
                          <a:latin typeface="Arial"/>
                        </a:rPr>
                        <a:t>Purple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US" sz="12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Bruce Bates, Jeff McDonald, Matt Sundholm, Suvadeep Bhattacharya, Ganapathi Raju, Tamie Haskins, Todd Hensley, Wes Russ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>
                          <a:solidFill>
                            <a:srgbClr val="2F8A7E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US" sz="12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Bikas Bista, Chris Rolling, Colby Bragg, Eric Chandler, Guillermo Stortoni, Laurie Grimmett, Robert Gray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400" b="1" i="0">
                          <a:solidFill>
                            <a:srgbClr val="2F8A7E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US" sz="1200" b="0" i="0" kern="1200">
                          <a:solidFill>
                            <a:srgbClr val="5A6472"/>
                          </a:solidFill>
                          <a:latin typeface="Arial"/>
                          <a:ea typeface="+mn-ea"/>
                          <a:cs typeface="+mn-cs"/>
                        </a:rPr>
                        <a:t>Brian Seib, Brock Taylor, Izayah McCardell, Jake Johnson, JoAnn Clamp, Miriam Jaimes, Nick Parrish</a:t>
                      </a:r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2F5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18872" marR="118872" marT="82296" marB="82296" anchor="ctr"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472"/>
                </a:solidFill>
                <a:latin typeface="Arial"/>
              </a:rPr>
              <a:t>CONFIDENTIAL – INTERNAL USE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6437376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472"/>
                </a:solidFill>
                <a:latin typeface="Arial"/>
              </a:rPr>
              <a:t>Time Tracking Build Challenge  ·  </a:t>
            </a:r>
            <a:r>
              <a:rPr lang="en-US" sz="900" b="0" i="0">
                <a:solidFill>
                  <a:srgbClr val="5A6472"/>
                </a:solidFill>
                <a:latin typeface="Arial"/>
              </a:rPr>
              <a:t>8</a:t>
            </a:r>
            <a:endParaRPr sz="900" b="0" i="0">
              <a:solidFill>
                <a:srgbClr val="5A6472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323568-9097-7E54-6865-C689A580DC91}"/>
              </a:ext>
            </a:extLst>
          </p:cNvPr>
          <p:cNvSpPr txBox="1"/>
          <p:nvPr/>
        </p:nvSpPr>
        <p:spPr>
          <a:xfrm>
            <a:off x="731520" y="5863651"/>
            <a:ext cx="10607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u="sng">
                <a:solidFill>
                  <a:srgbClr val="5A6472"/>
                </a:solidFill>
                <a:latin typeface="Arial"/>
              </a:rPr>
              <a:t>Scrum Masters – you know who you are!  Jump in…help your team start organizing.</a:t>
            </a:r>
            <a:endParaRPr sz="1600" b="1" u="sng">
              <a:solidFill>
                <a:srgbClr val="5A647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AD29-3A07-95CC-4F25-537FA26B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E4EC85-76FB-F8FC-7809-2AD4A243364F}"/>
              </a:ext>
            </a:extLst>
          </p:cNvPr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E4B66"/>
                </a:solidFill>
                <a:latin typeface="Cambria"/>
              </a:rPr>
              <a:t>Your teams and channels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75C05-7D0D-D849-0921-88E72C498AE4}"/>
              </a:ext>
            </a:extLst>
          </p:cNvPr>
          <p:cNvSpPr txBox="1"/>
          <p:nvPr/>
        </p:nvSpPr>
        <p:spPr>
          <a:xfrm>
            <a:off x="640080" y="1078992"/>
            <a:ext cx="106984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b="0" i="0" dirty="0">
                <a:solidFill>
                  <a:srgbClr val="5A6472"/>
                </a:solidFill>
                <a:latin typeface="Arial"/>
              </a:rPr>
              <a:t>When you join you</a:t>
            </a:r>
            <a:r>
              <a:rPr lang="en-US" sz="1500" dirty="0">
                <a:solidFill>
                  <a:srgbClr val="5A6472"/>
                </a:solidFill>
                <a:latin typeface="Arial"/>
              </a:rPr>
              <a:t>r team – double check everyone has joined!</a:t>
            </a:r>
            <a:endParaRPr sz="1500" b="0" i="0" dirty="0">
              <a:solidFill>
                <a:srgbClr val="5A6472"/>
              </a:solidFill>
              <a:latin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F2E39F-53F8-6C28-4DEB-B75C567FA273}"/>
              </a:ext>
            </a:extLst>
          </p:cNvPr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472"/>
                </a:solidFill>
                <a:latin typeface="Arial"/>
              </a:rPr>
              <a:t>CONFIDENTIAL – INTERNAL USE ONLY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9F543D-5BCA-9138-B422-8A05FF360FEF}"/>
              </a:ext>
            </a:extLst>
          </p:cNvPr>
          <p:cNvSpPr txBox="1"/>
          <p:nvPr/>
        </p:nvSpPr>
        <p:spPr>
          <a:xfrm>
            <a:off x="6035040" y="6437376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472"/>
                </a:solidFill>
                <a:latin typeface="Arial"/>
              </a:rPr>
              <a:t>Time Tracking Build Challenge  ·  </a:t>
            </a:r>
            <a:r>
              <a:rPr lang="en-US" sz="900" b="0" i="0">
                <a:solidFill>
                  <a:srgbClr val="5A6472"/>
                </a:solidFill>
                <a:latin typeface="Arial"/>
              </a:rPr>
              <a:t>8</a:t>
            </a:r>
            <a:endParaRPr sz="900" b="0" i="0">
              <a:solidFill>
                <a:srgbClr val="5A6472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901F8-506A-6567-2265-554B6FD45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128" y="1615337"/>
            <a:ext cx="8655823" cy="2964765"/>
          </a:xfrm>
          <a:prstGeom prst="rect">
            <a:avLst/>
          </a:prstGeom>
        </p:spPr>
      </p:pic>
      <p:sp>
        <p:nvSpPr>
          <p:cNvPr id="7" name="Star: 5 Points 6">
            <a:extLst>
              <a:ext uri="{FF2B5EF4-FFF2-40B4-BE49-F238E27FC236}">
                <a16:creationId xmlns:a16="http://schemas.microsoft.com/office/drawing/2014/main" id="{22BF9456-993F-9274-9A5E-675A693F9E7B}"/>
              </a:ext>
            </a:extLst>
          </p:cNvPr>
          <p:cNvSpPr/>
          <p:nvPr/>
        </p:nvSpPr>
        <p:spPr>
          <a:xfrm>
            <a:off x="2341631" y="4666168"/>
            <a:ext cx="432435" cy="384877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2848B-19A3-1136-5FAF-B0CF474F1DD0}"/>
              </a:ext>
            </a:extLst>
          </p:cNvPr>
          <p:cNvSpPr txBox="1"/>
          <p:nvPr/>
        </p:nvSpPr>
        <p:spPr>
          <a:xfrm>
            <a:off x="3008848" y="4720185"/>
            <a:ext cx="7354103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</a:rPr>
              <a:t>Reminder – everyone drops from their hackathon team at 4PM and joins the main meeting to see everyone’s demos!</a:t>
            </a:r>
          </a:p>
        </p:txBody>
      </p:sp>
    </p:spTree>
    <p:extLst>
      <p:ext uri="{BB962C8B-B14F-4D97-AF65-F5344CB8AC3E}">
        <p14:creationId xmlns:p14="http://schemas.microsoft.com/office/powerpoint/2010/main" val="1274078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4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3E4B66"/>
          </a:solidFill>
          <a:ln w="28575">
            <a:solidFill>
              <a:srgbClr val="2F8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— then let’s go.</a:t>
            </a:r>
            <a:endParaRPr lang="en-US" sz="5400"/>
          </a:p>
        </p:txBody>
      </p:sp>
      <p:sp>
        <p:nvSpPr>
          <p:cNvPr id="4" name="Text 2"/>
          <p:cNvSpPr/>
          <p:nvPr/>
        </p:nvSpPr>
        <p:spPr>
          <a:xfrm>
            <a:off x="841248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EA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Foundation. Pick your stretch. Show us what we can do with AI.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to your team channel now. Introductions and roles first — then start building.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6AF12A7940684CA3BD04961675B025" ma:contentTypeVersion="11" ma:contentTypeDescription="Create a new document." ma:contentTypeScope="" ma:versionID="656bbfa7f6c1f95c2330b0dc282ace0a">
  <xsd:schema xmlns:xsd="http://www.w3.org/2001/XMLSchema" xmlns:xs="http://www.w3.org/2001/XMLSchema" xmlns:p="http://schemas.microsoft.com/office/2006/metadata/properties" xmlns:ns2="daae6da9-081f-4a85-bbeb-b2876947fe8d" xmlns:ns3="a0e3bbe0-6116-4b4d-b04a-4f41a830bdff" targetNamespace="http://schemas.microsoft.com/office/2006/metadata/properties" ma:root="true" ma:fieldsID="69e062e4d785abb7db010deb42dcd6fd" ns2:_="" ns3:_="">
    <xsd:import namespace="daae6da9-081f-4a85-bbeb-b2876947fe8d"/>
    <xsd:import namespace="a0e3bbe0-6116-4b4d-b04a-4f41a830bd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e6da9-081f-4a85-bbeb-b2876947fe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2869885-5213-4a9e-a3aa-03977fe599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3bbe0-6116-4b4d-b04a-4f41a830bdf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5923ce-789e-40e7-8662-4f59738b20e8}" ma:internalName="TaxCatchAll" ma:showField="CatchAllData" ma:web="a0e3bbe0-6116-4b4d-b04a-4f41a830bd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e3bbe0-6116-4b4d-b04a-4f41a830bdff" xsi:nil="true"/>
    <lcf76f155ced4ddcb4097134ff3c332f xmlns="daae6da9-081f-4a85-bbeb-b2876947fe8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1987CDE-9443-4D73-BE7A-E82E6F73B5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1536A7-8E9A-40F9-9A5A-DA3FDCCABAF2}">
  <ds:schemaRefs>
    <ds:schemaRef ds:uri="a0e3bbe0-6116-4b4d-b04a-4f41a830bdff"/>
    <ds:schemaRef ds:uri="daae6da9-081f-4a85-bbeb-b2876947fe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29A677-D2E0-4BFA-BABF-663A890E15CC}">
  <ds:schemaRefs>
    <ds:schemaRef ds:uri="a0e3bbe0-6116-4b4d-b04a-4f41a830bdff"/>
    <ds:schemaRef ds:uri="daae6da9-081f-4a85-bbeb-b2876947fe8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1865</Words>
  <Application>Microsoft Office PowerPoint</Application>
  <PresentationFormat>Widescreen</PresentationFormat>
  <Paragraphs>291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Corinne Wiedel</cp:lastModifiedBy>
  <cp:revision>1</cp:revision>
  <dcterms:created xsi:type="dcterms:W3CDTF">2026-08-16T13:36:11Z</dcterms:created>
  <dcterms:modified xsi:type="dcterms:W3CDTF">2026-08-27T13:14:26Z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0x010100DE6AF12A7940684CA3BD04961675B025</vt:lpwstr>
  </property>
  <property fmtid="{D5CDD505-2E9C-101B-9397-08002B2CF9AE}" pid="3" name="MediaServiceImageTags">
    <vt:lpwstr/>
  </property>
</Properties>
</file>